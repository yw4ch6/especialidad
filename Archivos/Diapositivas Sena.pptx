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68" r:id="rId2"/>
    <p:sldId id="471" r:id="rId3"/>
    <p:sldId id="456" r:id="rId4"/>
    <p:sldId id="260" r:id="rId5"/>
    <p:sldId id="278" r:id="rId6"/>
    <p:sldId id="279" r:id="rId7"/>
    <p:sldId id="284" r:id="rId8"/>
    <p:sldId id="457" r:id="rId9"/>
    <p:sldId id="473" r:id="rId10"/>
    <p:sldId id="283" r:id="rId11"/>
    <p:sldId id="458" r:id="rId12"/>
    <p:sldId id="459" r:id="rId13"/>
    <p:sldId id="285" r:id="rId14"/>
    <p:sldId id="286" r:id="rId15"/>
    <p:sldId id="288" r:id="rId16"/>
    <p:sldId id="472" r:id="rId17"/>
    <p:sldId id="474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39A900"/>
    <a:srgbClr val="00AD00"/>
    <a:srgbClr val="FFFFFF"/>
    <a:srgbClr val="00B300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8CE56-F204-A194-EF76-B200E4F7302D}" v="182" dt="2023-05-24T15:45:58.832"/>
    <p1510:client id="{F6F88D12-B2A1-3448-D86F-9B7506ACE53E}" v="2" dt="2023-05-17T19:44:02.419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/>
  </p:normalViewPr>
  <p:slideViewPr>
    <p:cSldViewPr snapToGrid="0">
      <p:cViewPr varScale="1">
        <p:scale>
          <a:sx n="62" d="100"/>
          <a:sy n="62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CB152A6-7CD1-6027-C305-D31F187054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B17BD5-E7D3-D25F-362E-1F712E1981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9A6B3-3540-465D-B267-F01DDCC0140F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525BCF2-11A9-7E03-6B99-3BDB99B164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F29EA6-1AAE-4340-24DC-4D489D2013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FF352-79B0-473B-80C8-B92478CD73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94469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444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A13E2-FB16-431A-8B51-2A9ECDD32980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1422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18C15FB8-0B8B-97FF-D3D9-4130624F86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6814" y="-20320"/>
            <a:ext cx="1614432" cy="147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E0C000E1-52A4-3C18-ED97-4DACC1F095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6814" y="-20320"/>
            <a:ext cx="1614432" cy="147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3CFEF-4B3E-1E40-B352-B3A3909415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29DA86A-30A2-952E-767F-EC7D25D269F0}"/>
              </a:ext>
            </a:extLst>
          </p:cNvPr>
          <p:cNvSpPr/>
          <p:nvPr userDrawn="1"/>
        </p:nvSpPr>
        <p:spPr>
          <a:xfrm>
            <a:off x="11043920" y="233680"/>
            <a:ext cx="792480" cy="86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1E7BFFB0-2A15-ECCD-8A07-E56228789E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6814" y="-20320"/>
            <a:ext cx="1614432" cy="147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25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422CC-C000-654E-9301-E5A5A99182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B300"/>
          </a:solidFill>
        </p:spPr>
      </p:pic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EF5D4281-DF75-3AC0-9526-B958584D5E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29265" y="1"/>
            <a:ext cx="1562735" cy="142571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06AEADB-9441-E33E-FB16-76ABB1B31853}"/>
              </a:ext>
            </a:extLst>
          </p:cNvPr>
          <p:cNvSpPr/>
          <p:nvPr userDrawn="1"/>
        </p:nvSpPr>
        <p:spPr>
          <a:xfrm>
            <a:off x="0" y="0"/>
            <a:ext cx="10629265" cy="1425718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8709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11750109" y="67909"/>
            <a:ext cx="365931" cy="203171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400"/>
          </a:p>
        </p:txBody>
      </p:sp>
      <p:sp>
        <p:nvSpPr>
          <p:cNvPr id="5" name="CuadroTexto 4"/>
          <p:cNvSpPr txBox="1"/>
          <p:nvPr userDrawn="1"/>
        </p:nvSpPr>
        <p:spPr>
          <a:xfrm rot="16200000">
            <a:off x="11838342" y="106383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>
                <a:solidFill>
                  <a:srgbClr val="BDB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B3DA88E-F5FD-876E-5D93-12597D671F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74"/>
            <a:ext cx="12192000" cy="68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11801967" y="134062"/>
            <a:ext cx="274448" cy="152378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/>
          <p:cNvSpPr txBox="1"/>
          <p:nvPr userDrawn="1"/>
        </p:nvSpPr>
        <p:spPr>
          <a:xfrm rot="16200000">
            <a:off x="11827930" y="115515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>
                <a:solidFill>
                  <a:srgbClr val="BDB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34BF18-3F2B-3A08-D27B-C2A2409ADC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92"/>
            <a:ext cx="12192000" cy="685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300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4" r:id="rId14"/>
    <p:sldLayoutId id="2147483665" r:id="rId15"/>
    <p:sldLayoutId id="2147483673" r:id="rId16"/>
    <p:sldLayoutId id="214748367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bananagatorade123@gmail.com" TargetMode="External"/><Relationship Id="rId2" Type="http://schemas.openxmlformats.org/officeDocument/2006/relationships/hyperlink" Target="mailto:santiagopava85@Gmail.com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mailto:juanitogolondrina0210@Gmail.com" TargetMode="External"/><Relationship Id="rId4" Type="http://schemas.openxmlformats.org/officeDocument/2006/relationships/hyperlink" Target="mailto:santiagotigreros2011@gmail.co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E89E0C6F-F12A-48D9-A725-7265F6679455}"/>
              </a:ext>
            </a:extLst>
          </p:cNvPr>
          <p:cNvSpPr txBox="1">
            <a:spLocks/>
          </p:cNvSpPr>
          <p:nvPr/>
        </p:nvSpPr>
        <p:spPr>
          <a:xfrm>
            <a:off x="1066005" y="2682803"/>
            <a:ext cx="95511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88000"/>
            <a:r>
              <a:rPr lang="es-CO" sz="3600" b="1"/>
              <a:t>Centro de Electricidad </a:t>
            </a:r>
          </a:p>
          <a:p>
            <a:pPr defTabSz="288000"/>
            <a:r>
              <a:rPr lang="es-CO" sz="3600" b="1"/>
              <a:t>y Automatización Industrial</a:t>
            </a:r>
          </a:p>
          <a:p>
            <a:pPr defTabSz="288000"/>
            <a:r>
              <a:rPr lang="es-CO" sz="3600" b="1"/>
              <a:t>Programa Articulación con la Media Técnica</a:t>
            </a:r>
            <a:endParaRPr lang="es-CO" sz="4000" b="1"/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8439397" y="4808725"/>
            <a:ext cx="2688771" cy="95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67" b="1" dirty="0"/>
              <a:t>Logo de la IE no debe superar el tamaño del logo SENA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08082E5-26CB-4650-8204-FBCC4934FF41}"/>
              </a:ext>
            </a:extLst>
          </p:cNvPr>
          <p:cNvSpPr txBox="1"/>
          <p:nvPr/>
        </p:nvSpPr>
        <p:spPr>
          <a:xfrm>
            <a:off x="0" y="1503740"/>
            <a:ext cx="12191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/>
              <a:t>Informe Técnico</a:t>
            </a:r>
          </a:p>
          <a:p>
            <a:pPr algn="ctr"/>
            <a:r>
              <a:rPr lang="es-ES" sz="4800" b="1"/>
              <a:t>Proyecto Productivo</a:t>
            </a:r>
          </a:p>
        </p:txBody>
      </p:sp>
      <p:sp>
        <p:nvSpPr>
          <p:cNvPr id="2" name="CuadroTexto 3">
            <a:extLst>
              <a:ext uri="{FF2B5EF4-FFF2-40B4-BE49-F238E27FC236}">
                <a16:creationId xmlns:a16="http://schemas.microsoft.com/office/drawing/2014/main" id="{A071DB49-CB7A-4ECA-BD27-1276C27C8027}"/>
              </a:ext>
            </a:extLst>
          </p:cNvPr>
          <p:cNvSpPr txBox="1"/>
          <p:nvPr/>
        </p:nvSpPr>
        <p:spPr>
          <a:xfrm>
            <a:off x="0" y="3346883"/>
            <a:ext cx="121919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88000"/>
            <a:r>
              <a:rPr lang="es-CO" sz="2400" b="1" dirty="0"/>
              <a:t>Programa de Formación </a:t>
            </a:r>
          </a:p>
          <a:p>
            <a:pPr algn="ctr" defTabSz="288000"/>
            <a:r>
              <a:rPr lang="es-CO" sz="2400" b="1" dirty="0"/>
              <a:t>Técnico En Programación De Software</a:t>
            </a:r>
          </a:p>
          <a:p>
            <a:pPr algn="ctr" defTabSz="288000"/>
            <a:endParaRPr lang="es-CO" sz="2400" b="1" dirty="0"/>
          </a:p>
          <a:p>
            <a:pPr algn="ctr" defTabSz="288000"/>
            <a:r>
              <a:rPr lang="es-CO" sz="2400" b="1" dirty="0"/>
              <a:t>Ficha</a:t>
            </a:r>
          </a:p>
          <a:p>
            <a:pPr algn="ctr" defTabSz="288000"/>
            <a:r>
              <a:rPr lang="es-CO" sz="2400" b="1" dirty="0" err="1"/>
              <a:t>xxxxxx</a:t>
            </a:r>
            <a:endParaRPr lang="es-CO" sz="2400" b="1" dirty="0"/>
          </a:p>
        </p:txBody>
      </p:sp>
      <p:pic>
        <p:nvPicPr>
          <p:cNvPr id="1026" name="Picture 2" descr="Comfandi » vectorlogo.es">
            <a:extLst>
              <a:ext uri="{FF2B5EF4-FFF2-40B4-BE49-F238E27FC236}">
                <a16:creationId xmlns:a16="http://schemas.microsoft.com/office/drawing/2014/main" id="{8F90A4CC-1A62-4EFC-873D-A0400A90B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887" y="4428162"/>
            <a:ext cx="2826932" cy="143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069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4">
            <a:extLst>
              <a:ext uri="{FF2B5EF4-FFF2-40B4-BE49-F238E27FC236}">
                <a16:creationId xmlns:a16="http://schemas.microsoft.com/office/drawing/2014/main" id="{3673B424-8AC7-462B-965A-1FDD45CC0652}"/>
              </a:ext>
            </a:extLst>
          </p:cNvPr>
          <p:cNvSpPr txBox="1"/>
          <p:nvPr/>
        </p:nvSpPr>
        <p:spPr>
          <a:xfrm>
            <a:off x="0" y="54863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/>
              <a:t>Equipo de Trabajo</a:t>
            </a:r>
          </a:p>
        </p:txBody>
      </p:sp>
      <p:graphicFrame>
        <p:nvGraphicFramePr>
          <p:cNvPr id="7" name="5 Tabla">
            <a:extLst>
              <a:ext uri="{FF2B5EF4-FFF2-40B4-BE49-F238E27FC236}">
                <a16:creationId xmlns:a16="http://schemas.microsoft.com/office/drawing/2014/main" id="{6AA6EC6E-B23F-4EC2-A4D8-BC3DD1FC0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072813"/>
              </p:ext>
            </p:extLst>
          </p:nvPr>
        </p:nvGraphicFramePr>
        <p:xfrm>
          <a:off x="359596" y="1855142"/>
          <a:ext cx="11230421" cy="756199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50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3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731"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Aprendiz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No. </a:t>
                      </a:r>
                      <a:r>
                        <a:rPr lang="es-CO" sz="2400" baseline="0" dirty="0"/>
                        <a:t>de Identificación</a:t>
                      </a:r>
                      <a:endParaRPr lang="es-CO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Correo Electrónico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8342">
                <a:tc>
                  <a:txBody>
                    <a:bodyPr/>
                    <a:lstStyle/>
                    <a:p>
                      <a:r>
                        <a:rPr lang="es-MX" sz="2400" dirty="0"/>
                        <a:t>Santiago Pava Benavides</a:t>
                      </a:r>
                    </a:p>
                    <a:p>
                      <a:endParaRPr lang="es-MX" sz="2400" dirty="0"/>
                    </a:p>
                    <a:p>
                      <a:r>
                        <a:rPr lang="es-MX" sz="2400" dirty="0" err="1"/>
                        <a:t>Hector</a:t>
                      </a:r>
                      <a:r>
                        <a:rPr lang="es-MX" sz="2400" dirty="0"/>
                        <a:t> Manuel Ramos Corrales</a:t>
                      </a:r>
                    </a:p>
                    <a:p>
                      <a:endParaRPr lang="es-MX" sz="2400" dirty="0"/>
                    </a:p>
                    <a:p>
                      <a:r>
                        <a:rPr lang="es-MX" sz="2400" dirty="0"/>
                        <a:t>Santiago Tigreros </a:t>
                      </a:r>
                      <a:r>
                        <a:rPr lang="es-MX" sz="2400" dirty="0" err="1"/>
                        <a:t>Santibañez</a:t>
                      </a:r>
                      <a:endParaRPr lang="es-MX" sz="2400" dirty="0"/>
                    </a:p>
                    <a:p>
                      <a:endParaRPr lang="es-MX" sz="2400" dirty="0"/>
                    </a:p>
                    <a:p>
                      <a:r>
                        <a:rPr lang="es-MX" sz="2400" dirty="0"/>
                        <a:t>Juan David Lozano manzano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1114624598</a:t>
                      </a:r>
                    </a:p>
                    <a:p>
                      <a:endParaRPr lang="es-CO" sz="2400" dirty="0"/>
                    </a:p>
                    <a:p>
                      <a:r>
                        <a:rPr lang="es-CO" sz="2400" dirty="0"/>
                        <a:t>114313361</a:t>
                      </a:r>
                    </a:p>
                    <a:p>
                      <a:endParaRPr lang="es-CO" sz="2400" dirty="0"/>
                    </a:p>
                    <a:p>
                      <a:endParaRPr lang="es-CO" sz="2400" dirty="0"/>
                    </a:p>
                    <a:p>
                      <a:r>
                        <a:rPr lang="es-CO" sz="2400" dirty="0"/>
                        <a:t>114276245</a:t>
                      </a:r>
                    </a:p>
                    <a:p>
                      <a:endParaRPr lang="es-CO" sz="2400" dirty="0"/>
                    </a:p>
                    <a:p>
                      <a:r>
                        <a:rPr lang="es-CO" sz="2400" dirty="0"/>
                        <a:t>1107860760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s-CO" sz="2400" dirty="0">
                          <a:hlinkClick r:id="rId2"/>
                        </a:rPr>
                        <a:t>santiagopava85@Gmail.com</a:t>
                      </a:r>
                      <a:endParaRPr lang="es-CO" sz="2400" dirty="0"/>
                    </a:p>
                    <a:p>
                      <a:r>
                        <a:rPr lang="es-CO" sz="2400" dirty="0">
                          <a:hlinkClick r:id="rId3"/>
                        </a:rPr>
                        <a:t>bananagatorade123@gmail.com</a:t>
                      </a:r>
                      <a:endParaRPr lang="es-CO" sz="2400" dirty="0"/>
                    </a:p>
                    <a:p>
                      <a:r>
                        <a:rPr lang="es-CO" sz="2400" dirty="0">
                          <a:hlinkClick r:id="rId4"/>
                        </a:rPr>
                        <a:t>santiagotigreros2011@gmail.com</a:t>
                      </a:r>
                      <a:endParaRPr lang="es-CO" sz="2400" dirty="0"/>
                    </a:p>
                    <a:p>
                      <a:endParaRPr lang="es-CO" sz="2400" dirty="0"/>
                    </a:p>
                    <a:p>
                      <a:r>
                        <a:rPr lang="es-CO" sz="2400" dirty="0">
                          <a:hlinkClick r:id="rId5"/>
                        </a:rPr>
                        <a:t>juanitogolondrina0210@Gmail.com</a:t>
                      </a:r>
                      <a:endParaRPr lang="es-CO" sz="2400" dirty="0"/>
                    </a:p>
                    <a:p>
                      <a:endParaRPr lang="es-CO" sz="2400" dirty="0"/>
                    </a:p>
                    <a:p>
                      <a:pPr lvl="0">
                        <a:buNone/>
                      </a:pPr>
                      <a:endParaRPr lang="es-CO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31">
                <a:tc>
                  <a:txBody>
                    <a:bodyPr/>
                    <a:lstStyle/>
                    <a:p>
                      <a:endParaRPr lang="es-CO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31"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31"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731"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s-CO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025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solidFill>
                  <a:schemeClr val="bg1"/>
                </a:solidFill>
              </a:rPr>
              <a:t>WYRD WORKS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D47730-7670-4446-BBD3-29F6DCC6EF8F}"/>
              </a:ext>
            </a:extLst>
          </p:cNvPr>
          <p:cNvSpPr txBox="1"/>
          <p:nvPr/>
        </p:nvSpPr>
        <p:spPr>
          <a:xfrm>
            <a:off x="86540" y="189564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/>
              <a:t>Inserte aquí el logo de su empresa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AD27EA-4AD9-4A16-BF83-7CFB979F2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314" y="1645276"/>
            <a:ext cx="4932452" cy="49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76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AD47730-7670-4446-BBD3-29F6DCC6EF8F}"/>
              </a:ext>
            </a:extLst>
          </p:cNvPr>
          <p:cNvSpPr txBox="1"/>
          <p:nvPr/>
        </p:nvSpPr>
        <p:spPr>
          <a:xfrm>
            <a:off x="-33203" y="186842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/>
              <a:t>Generar y llevar energía de manera autónoma y autosustentable a lugares donde hay escasos recursos, poco uso y capacidad de energía eléctrica, y también generar un impacto significativo de forma positiva a la comunidad a la que se le va a brindar el apoyo con el proyecto.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F63124-44B9-5B40-0E66-59AC51AB6CBC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MISIÓN DE LA EMPRESA</a:t>
            </a:r>
          </a:p>
        </p:txBody>
      </p:sp>
    </p:spTree>
    <p:extLst>
      <p:ext uri="{BB962C8B-B14F-4D97-AF65-F5344CB8AC3E}">
        <p14:creationId xmlns:p14="http://schemas.microsoft.com/office/powerpoint/2010/main" val="2592369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AD47730-7670-4446-BBD3-29F6DCC6EF8F}"/>
              </a:ext>
            </a:extLst>
          </p:cNvPr>
          <p:cNvSpPr txBox="1"/>
          <p:nvPr/>
        </p:nvSpPr>
        <p:spPr>
          <a:xfrm>
            <a:off x="378431" y="1762026"/>
            <a:ext cx="114351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dirty="0"/>
              <a:t>Ser una organización líder en soluciones energéticas autónomas y sostenibles, reconocida por transformar comunidades con acceso limitado a la energía eléctrica mediante tecnologías innovadoras, accesibles y autosustentables. Aspiramos a impulsar el desarrollo social, económico y ambiental de cada comunidad impactada, mejorando su calidad de vida y creando oportunidades para un futuro más digno, equitativo y sostenible.</a:t>
            </a:r>
            <a:endParaRPr lang="es-ES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2F75B29-9B9C-E7DE-9931-D651316FE56B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VISIÓN DE LA EMPRESA</a:t>
            </a:r>
          </a:p>
        </p:txBody>
      </p:sp>
    </p:spTree>
    <p:extLst>
      <p:ext uri="{BB962C8B-B14F-4D97-AF65-F5344CB8AC3E}">
        <p14:creationId xmlns:p14="http://schemas.microsoft.com/office/powerpoint/2010/main" val="332865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 Rectángulo">
            <a:extLst>
              <a:ext uri="{FF2B5EF4-FFF2-40B4-BE49-F238E27FC236}">
                <a16:creationId xmlns:a16="http://schemas.microsoft.com/office/drawing/2014/main" id="{82B5C427-4A66-4D2F-9323-808A7580F5F3}"/>
              </a:ext>
            </a:extLst>
          </p:cNvPr>
          <p:cNvSpPr/>
          <p:nvPr/>
        </p:nvSpPr>
        <p:spPr>
          <a:xfrm>
            <a:off x="-1" y="1959564"/>
            <a:ext cx="1219200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63060"/>
            <a:r>
              <a:rPr lang="es-CO" sz="2800" dirty="0"/>
              <a:t>Describa aquí los valores que identifican a su empresa.</a:t>
            </a:r>
          </a:p>
          <a:p>
            <a:pPr marL="963060"/>
            <a:endParaRPr lang="es-CO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63060"/>
            <a:r>
              <a:rPr lang="es-CO" sz="2800" dirty="0"/>
              <a:t>1. Confianza y transparencia</a:t>
            </a:r>
          </a:p>
          <a:p>
            <a:pPr marL="963060"/>
            <a:endParaRPr lang="es-CO" sz="2800" dirty="0"/>
          </a:p>
          <a:p>
            <a:pPr marL="963060"/>
            <a:r>
              <a:rPr lang="es-CO" sz="2800" dirty="0"/>
              <a:t>2. Integridad</a:t>
            </a:r>
          </a:p>
          <a:p>
            <a:pPr marL="963060"/>
            <a:endParaRPr lang="es-CO" sz="2800" dirty="0"/>
          </a:p>
          <a:p>
            <a:pPr marL="963060"/>
            <a:r>
              <a:rPr lang="es-CO" sz="2800" dirty="0"/>
              <a:t>3. Creatividad</a:t>
            </a:r>
          </a:p>
          <a:p>
            <a:pPr marL="963060"/>
            <a:endParaRPr lang="es-CO" sz="2800" dirty="0"/>
          </a:p>
          <a:p>
            <a:pPr marL="963060"/>
            <a:r>
              <a:rPr lang="es-CO" sz="2800" dirty="0"/>
              <a:t>4. Responsabilidad y compromiso </a:t>
            </a:r>
          </a:p>
          <a:p>
            <a:pPr marL="963060"/>
            <a:endParaRPr lang="es-CO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63060"/>
            <a:endParaRPr lang="es-CO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C8479F7-F0C7-4031-8190-3F35792E2B61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VALORES CORPORATIVOS</a:t>
            </a:r>
          </a:p>
        </p:txBody>
      </p:sp>
    </p:spTree>
    <p:extLst>
      <p:ext uri="{BB962C8B-B14F-4D97-AF65-F5344CB8AC3E}">
        <p14:creationId xmlns:p14="http://schemas.microsoft.com/office/powerpoint/2010/main" val="2750858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9DD01D1C-5675-E31C-4E37-88879A60A3F3}"/>
              </a:ext>
            </a:extLst>
          </p:cNvPr>
          <p:cNvSpPr/>
          <p:nvPr/>
        </p:nvSpPr>
        <p:spPr>
          <a:xfrm>
            <a:off x="352776" y="702151"/>
            <a:ext cx="6259212" cy="2528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Imagen 1" descr="fot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346" y="0"/>
            <a:ext cx="5311533" cy="68580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0" y="317431"/>
            <a:ext cx="6907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>
                <a:solidFill>
                  <a:srgbClr val="00AD00"/>
                </a:solidFill>
              </a:rPr>
              <a:t>OBJETIVOS DEL PROYECTO</a:t>
            </a:r>
          </a:p>
        </p:txBody>
      </p:sp>
      <p:sp>
        <p:nvSpPr>
          <p:cNvPr id="8" name="CuadroTexto 5">
            <a:extLst>
              <a:ext uri="{FF2B5EF4-FFF2-40B4-BE49-F238E27FC236}">
                <a16:creationId xmlns:a16="http://schemas.microsoft.com/office/drawing/2014/main" id="{DA74CC1D-35F4-450F-893A-D79F8FABBE57}"/>
              </a:ext>
            </a:extLst>
          </p:cNvPr>
          <p:cNvSpPr txBox="1"/>
          <p:nvPr/>
        </p:nvSpPr>
        <p:spPr>
          <a:xfrm>
            <a:off x="436615" y="1171669"/>
            <a:ext cx="6175373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800" b="1" dirty="0">
                <a:solidFill>
                  <a:srgbClr val="00AD00"/>
                </a:solidFill>
              </a:rPr>
              <a:t>Objetivo General</a:t>
            </a:r>
          </a:p>
          <a:p>
            <a:pPr algn="just"/>
            <a:endParaRPr lang="es-CO" sz="2800" b="1" dirty="0"/>
          </a:p>
          <a:p>
            <a:pPr algn="just"/>
            <a:r>
              <a:rPr lang="es-CO" sz="2800" dirty="0"/>
              <a:t>Diseñar e implementar soluciones energéticas autónomas y autosustentables que permitan llevar energía eléctrica a comunidades con acceso limitado o escasos recursos energéticos, contribuyendo al mejoramiento de su calidad de vida y promoviendo el desarrollo social, económico y ambiental de manera sostenible e innovadora..</a:t>
            </a:r>
          </a:p>
          <a:p>
            <a:pPr algn="just"/>
            <a:endParaRPr lang="es-CO" sz="2200" dirty="0"/>
          </a:p>
        </p:txBody>
      </p:sp>
    </p:spTree>
    <p:extLst>
      <p:ext uri="{BB962C8B-B14F-4D97-AF65-F5344CB8AC3E}">
        <p14:creationId xmlns:p14="http://schemas.microsoft.com/office/powerpoint/2010/main" val="94137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34F65617-547F-E42C-628B-19F09830BD05}"/>
              </a:ext>
            </a:extLst>
          </p:cNvPr>
          <p:cNvSpPr/>
          <p:nvPr/>
        </p:nvSpPr>
        <p:spPr>
          <a:xfrm>
            <a:off x="352776" y="702151"/>
            <a:ext cx="6259212" cy="2528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Imagen 1" descr="fot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346" y="0"/>
            <a:ext cx="5311533" cy="68580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  <p:sp>
        <p:nvSpPr>
          <p:cNvPr id="8" name="CuadroTexto 5">
            <a:extLst>
              <a:ext uri="{FF2B5EF4-FFF2-40B4-BE49-F238E27FC236}">
                <a16:creationId xmlns:a16="http://schemas.microsoft.com/office/drawing/2014/main" id="{DA74CC1D-35F4-450F-893A-D79F8FABBE57}"/>
              </a:ext>
            </a:extLst>
          </p:cNvPr>
          <p:cNvSpPr txBox="1"/>
          <p:nvPr/>
        </p:nvSpPr>
        <p:spPr>
          <a:xfrm>
            <a:off x="123291" y="1108018"/>
            <a:ext cx="678405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800" b="1" dirty="0">
                <a:solidFill>
                  <a:srgbClr val="00AD00"/>
                </a:solidFill>
              </a:rPr>
              <a:t>Objetivos Específicos</a:t>
            </a:r>
          </a:p>
          <a:p>
            <a:pPr algn="just"/>
            <a:endParaRPr lang="es-CO" sz="2800" b="1" dirty="0"/>
          </a:p>
          <a:p>
            <a:pPr algn="just"/>
            <a:r>
              <a:rPr lang="es-CO" sz="2000" dirty="0"/>
              <a:t>Los objetivos específicos se derivan del objetivo general e indican el camino que se debe seguir para alcanzarlo. </a:t>
            </a:r>
          </a:p>
          <a:p>
            <a:pPr algn="just"/>
            <a:endParaRPr lang="es-CO" sz="2800" dirty="0"/>
          </a:p>
          <a:p>
            <a:pPr algn="just"/>
            <a:r>
              <a:rPr lang="es-CO" dirty="0"/>
              <a:t>1.Desarrollar sistemas energéticos sostenibles y autónomos adaptados a las necesidades de comunidades con acceso limitado a la energía eléctrica</a:t>
            </a:r>
          </a:p>
          <a:p>
            <a:pPr algn="just"/>
            <a:br>
              <a:rPr lang="es-CO" dirty="0"/>
            </a:br>
            <a:r>
              <a:rPr lang="es-CO" dirty="0"/>
              <a:t>2. Facilitar el acceso a fuentes de energía confiables y eficientes que contribuyan al bienestar y progreso de las comunidades beneficiadas.</a:t>
            </a:r>
          </a:p>
          <a:p>
            <a:pPr algn="just"/>
            <a:br>
              <a:rPr lang="es-CO" dirty="0"/>
            </a:br>
            <a:r>
              <a:rPr lang="es-CO" dirty="0"/>
              <a:t>3. Implementar tecnologías innovadoras y accesibles que garanticen la sostenibilidad y autosuficiencia energética de las comunidades intervenidas.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29DDFB-91F6-A1EE-A417-F8EC3063306A}"/>
              </a:ext>
            </a:extLst>
          </p:cNvPr>
          <p:cNvSpPr txBox="1"/>
          <p:nvPr/>
        </p:nvSpPr>
        <p:spPr>
          <a:xfrm>
            <a:off x="0" y="317431"/>
            <a:ext cx="6907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>
                <a:solidFill>
                  <a:srgbClr val="00AD00"/>
                </a:solidFill>
              </a:rPr>
              <a:t>OBJETIVOS DEL PROYECTO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6286C14-524A-4753-B9B3-CBF9470F9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23165"/>
            <a:ext cx="1343924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32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 Rectángulo">
            <a:extLst>
              <a:ext uri="{FF2B5EF4-FFF2-40B4-BE49-F238E27FC236}">
                <a16:creationId xmlns:a16="http://schemas.microsoft.com/office/drawing/2014/main" id="{82B5C427-4A66-4D2F-9323-808A7580F5F3}"/>
              </a:ext>
            </a:extLst>
          </p:cNvPr>
          <p:cNvSpPr/>
          <p:nvPr/>
        </p:nvSpPr>
        <p:spPr>
          <a:xfrm>
            <a:off x="0" y="2182639"/>
            <a:ext cx="1219199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2948" indent="-469888">
              <a:buFont typeface="+mj-lt"/>
              <a:buAutoNum type="arabicPeriod"/>
            </a:pPr>
            <a:r>
              <a:rPr lang="es-CO" sz="2800" dirty="0"/>
              <a:t>Descripción del proyecto: nuestro proyecto es un servicio de energía por medio de un sistema hidráulico</a:t>
            </a:r>
          </a:p>
          <a:p>
            <a:pPr marL="963060"/>
            <a:r>
              <a:rPr lang="es-CO" sz="2800" dirty="0"/>
              <a:t>2.   las funciones del proyecto: el proyecto tiene como función brindar energía limpias a través de un sistema hidráulico, y de esta forma abastecer a comunidades que carezcan de este </a:t>
            </a:r>
            <a:endParaRPr lang="es-CO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695F0E-75A6-B20B-8677-5D746689B195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IDENTIFICACIÓN DEL PROYECTO</a:t>
            </a:r>
          </a:p>
        </p:txBody>
      </p:sp>
    </p:spTree>
    <p:extLst>
      <p:ext uri="{BB962C8B-B14F-4D97-AF65-F5344CB8AC3E}">
        <p14:creationId xmlns:p14="http://schemas.microsoft.com/office/powerpoint/2010/main" val="104696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4225970-936E-559A-9BB3-458A525EA56E}"/>
              </a:ext>
            </a:extLst>
          </p:cNvPr>
          <p:cNvSpPr/>
          <p:nvPr/>
        </p:nvSpPr>
        <p:spPr>
          <a:xfrm>
            <a:off x="840456" y="694238"/>
            <a:ext cx="9258584" cy="3014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D86E6E8-501A-324D-8771-6B61F4215C56}"/>
              </a:ext>
            </a:extLst>
          </p:cNvPr>
          <p:cNvSpPr txBox="1"/>
          <p:nvPr/>
        </p:nvSpPr>
        <p:spPr>
          <a:xfrm>
            <a:off x="0" y="27874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98196"/>
            <a:r>
              <a:rPr lang="es-MX" sz="4800" b="1">
                <a:solidFill>
                  <a:srgbClr val="00AD00"/>
                </a:solidFill>
                <a:cs typeface="Arial" panose="020B0604020202020204" pitchFamily="34" charset="0"/>
                <a:sym typeface="Helvetica Neue"/>
              </a:rPr>
              <a:t>D</a:t>
            </a:r>
            <a:r>
              <a:rPr lang="es-CO" sz="4800" b="1">
                <a:solidFill>
                  <a:srgbClr val="00AD00"/>
                </a:solidFill>
                <a:cs typeface="Arial" panose="020B0604020202020204" pitchFamily="34" charset="0"/>
                <a:sym typeface="Helvetica Neue"/>
              </a:rPr>
              <a:t>ESCRIPCIÓN DEL PROBLEMA</a:t>
            </a: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928429F9-1CE6-458B-B176-32D1958C6A84}"/>
              </a:ext>
            </a:extLst>
          </p:cNvPr>
          <p:cNvSpPr/>
          <p:nvPr/>
        </p:nvSpPr>
        <p:spPr>
          <a:xfrm>
            <a:off x="581895" y="1339259"/>
            <a:ext cx="106788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s-CO" sz="2800" dirty="0"/>
              <a:t>Los hallazgos iniciales se dieron al nosotros buscar una forma de generar energía limpia pero de fácil acceso </a:t>
            </a:r>
            <a:endParaRPr lang="es-AR" sz="28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88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1868209-D007-40BC-9E6B-F71EA4649BF4}"/>
              </a:ext>
            </a:extLst>
          </p:cNvPr>
          <p:cNvSpPr txBox="1"/>
          <p:nvPr/>
        </p:nvSpPr>
        <p:spPr>
          <a:xfrm>
            <a:off x="539969" y="1782645"/>
            <a:ext cx="6093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>
                <a:ea typeface="Times New Roman" pitchFamily="18" charset="0"/>
                <a:cs typeface="Tahoma" pitchFamily="34" charset="0"/>
              </a:rPr>
              <a:t>Incluya evidencias fotográficas</a:t>
            </a:r>
            <a:endParaRPr lang="es-CO" sz="280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6834FDF-8EA8-9BD0-00F2-EF5F8BC2F086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EVIDENCIAS FASE DIAGNÓSTICO</a:t>
            </a:r>
          </a:p>
        </p:txBody>
      </p:sp>
    </p:spTree>
    <p:extLst>
      <p:ext uri="{BB962C8B-B14F-4D97-AF65-F5344CB8AC3E}">
        <p14:creationId xmlns:p14="http://schemas.microsoft.com/office/powerpoint/2010/main" val="3390861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 Rectángulo">
            <a:extLst>
              <a:ext uri="{FF2B5EF4-FFF2-40B4-BE49-F238E27FC236}">
                <a16:creationId xmlns:a16="http://schemas.microsoft.com/office/drawing/2014/main" id="{82B5C427-4A66-4D2F-9323-808A7580F5F3}"/>
              </a:ext>
            </a:extLst>
          </p:cNvPr>
          <p:cNvSpPr/>
          <p:nvPr/>
        </p:nvSpPr>
        <p:spPr>
          <a:xfrm>
            <a:off x="595424" y="1661852"/>
            <a:ext cx="1100115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s-CO" sz="2800" dirty="0"/>
              <a:t>Indique las actividades que realizó de manera secuencial para realizar su proyecto/producto/servicio, hasta la entrega del producto final.</a:t>
            </a:r>
          </a:p>
          <a:p>
            <a:pPr algn="just" fontAlgn="base"/>
            <a:endParaRPr lang="es-CO" sz="2800" dirty="0"/>
          </a:p>
          <a:p>
            <a:pPr marL="457189" indent="-457189" algn="just" fontAlgn="base">
              <a:buAutoNum type="arabicPeriod"/>
            </a:pPr>
            <a:r>
              <a:rPr lang="es-CO" sz="2800" dirty="0"/>
              <a:t>Recopilación de ideas </a:t>
            </a:r>
          </a:p>
          <a:p>
            <a:pPr marL="457189" indent="-457189" algn="just" fontAlgn="base">
              <a:buAutoNum type="arabicPeriod"/>
            </a:pPr>
            <a:r>
              <a:rPr lang="es-CO" sz="2800" dirty="0"/>
              <a:t>descarte de datos técnicos.</a:t>
            </a:r>
          </a:p>
          <a:p>
            <a:pPr marL="457189" indent="-457189" algn="just" fontAlgn="base">
              <a:buAutoNum type="arabicPeriod"/>
            </a:pPr>
            <a:r>
              <a:rPr lang="es-CO" sz="2800" dirty="0"/>
              <a:t>Estado del arte.</a:t>
            </a:r>
          </a:p>
          <a:p>
            <a:pPr marL="457189" indent="-457189" algn="just" fontAlgn="base">
              <a:buAutoNum type="arabicPeriod"/>
            </a:pPr>
            <a:r>
              <a:rPr lang="es-CO" sz="2800" dirty="0"/>
              <a:t>Implementación y adaptación de los elementos</a:t>
            </a:r>
          </a:p>
          <a:p>
            <a:pPr marL="457189" indent="-457189" algn="just" fontAlgn="base">
              <a:buAutoNum type="arabicPeriod"/>
            </a:pPr>
            <a:endParaRPr lang="es-CO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020C36-D55B-76CD-6031-52A175A1B981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EJECUCIÓN DEL PROYECTO</a:t>
            </a:r>
          </a:p>
        </p:txBody>
      </p:sp>
    </p:spTree>
    <p:extLst>
      <p:ext uri="{BB962C8B-B14F-4D97-AF65-F5344CB8AC3E}">
        <p14:creationId xmlns:p14="http://schemas.microsoft.com/office/powerpoint/2010/main" val="2273629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 Rectángulo">
            <a:extLst>
              <a:ext uri="{FF2B5EF4-FFF2-40B4-BE49-F238E27FC236}">
                <a16:creationId xmlns:a16="http://schemas.microsoft.com/office/drawing/2014/main" id="{82B5C427-4A66-4D2F-9323-808A7580F5F3}"/>
              </a:ext>
            </a:extLst>
          </p:cNvPr>
          <p:cNvSpPr/>
          <p:nvPr/>
        </p:nvSpPr>
        <p:spPr>
          <a:xfrm>
            <a:off x="390418" y="1849349"/>
            <a:ext cx="7037798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s-ES" sz="2200" dirty="0"/>
              <a:t>Cajas: 3.000</a:t>
            </a:r>
          </a:p>
          <a:p>
            <a:pPr algn="just" fontAlgn="base"/>
            <a:r>
              <a:rPr lang="es-ES" sz="2200" dirty="0"/>
              <a:t>Cucharas: 3.500</a:t>
            </a:r>
          </a:p>
          <a:p>
            <a:pPr algn="just" fontAlgn="base"/>
            <a:r>
              <a:rPr lang="es-ES" sz="2200" dirty="0" err="1"/>
              <a:t>Dvd</a:t>
            </a:r>
            <a:r>
              <a:rPr lang="es-ES" sz="2200" dirty="0"/>
              <a:t>: 0</a:t>
            </a:r>
          </a:p>
          <a:p>
            <a:pPr algn="just" fontAlgn="base"/>
            <a:r>
              <a:rPr lang="es-ES" sz="2200" dirty="0"/>
              <a:t>Tornillos : 7.000</a:t>
            </a:r>
          </a:p>
          <a:p>
            <a:pPr algn="just" fontAlgn="base"/>
            <a:r>
              <a:rPr lang="es-ES" sz="2200" dirty="0"/>
              <a:t>Palos de paleta: 5.000</a:t>
            </a:r>
          </a:p>
          <a:p>
            <a:pPr algn="just" fontAlgn="base"/>
            <a:r>
              <a:rPr lang="es-ES" sz="2200" dirty="0"/>
              <a:t>Motor: </a:t>
            </a:r>
          </a:p>
          <a:p>
            <a:pPr algn="just" fontAlgn="base"/>
            <a:r>
              <a:rPr lang="es-ES" sz="2200" dirty="0"/>
              <a:t>Bomba de agua: 10.000</a:t>
            </a:r>
          </a:p>
          <a:p>
            <a:pPr algn="just" fontAlgn="base"/>
            <a:r>
              <a:rPr lang="es-ES" sz="2200" dirty="0"/>
              <a:t>Rodamiento y correa: 68.000</a:t>
            </a:r>
          </a:p>
          <a:p>
            <a:pPr algn="just" fontAlgn="base"/>
            <a:r>
              <a:rPr lang="es-ES" sz="2200" dirty="0"/>
              <a:t>Base de madera: 2.000</a:t>
            </a:r>
          </a:p>
          <a:p>
            <a:pPr algn="just" fontAlgn="base"/>
            <a:r>
              <a:rPr lang="es-ES" sz="2200" dirty="0"/>
              <a:t>Pilas : 18.000</a:t>
            </a:r>
          </a:p>
          <a:p>
            <a:pPr algn="just" fontAlgn="base"/>
            <a:r>
              <a:rPr lang="es-ES" sz="2200" dirty="0"/>
              <a:t>Cables: 2.000</a:t>
            </a:r>
          </a:p>
          <a:p>
            <a:pPr algn="just" fontAlgn="base"/>
            <a:r>
              <a:rPr lang="es-ES" sz="2200" dirty="0"/>
              <a:t>Mangueras: 4.000</a:t>
            </a:r>
          </a:p>
          <a:p>
            <a:pPr algn="just" fontAlgn="base"/>
            <a:endParaRPr lang="es-ES" sz="2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C5FC56-AB6F-5F4B-9A4D-3F90E635A8A4}"/>
              </a:ext>
            </a:extLst>
          </p:cNvPr>
          <p:cNvSpPr txBox="1"/>
          <p:nvPr/>
        </p:nvSpPr>
        <p:spPr>
          <a:xfrm>
            <a:off x="0" y="28027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GASTOS DEL PROYECTO</a:t>
            </a:r>
          </a:p>
        </p:txBody>
      </p:sp>
    </p:spTree>
    <p:extLst>
      <p:ext uri="{BB962C8B-B14F-4D97-AF65-F5344CB8AC3E}">
        <p14:creationId xmlns:p14="http://schemas.microsoft.com/office/powerpoint/2010/main" val="105063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BA61964-357E-4C79-A4DA-9448389FE82E}"/>
              </a:ext>
            </a:extLst>
          </p:cNvPr>
          <p:cNvSpPr txBox="1"/>
          <p:nvPr/>
        </p:nvSpPr>
        <p:spPr>
          <a:xfrm>
            <a:off x="688368" y="1533465"/>
            <a:ext cx="9703869" cy="53245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CO" sz="2000" b="1" dirty="0"/>
              <a:t>Conclusiones</a:t>
            </a:r>
          </a:p>
          <a:p>
            <a:r>
              <a:rPr lang="es-CO" sz="2000" dirty="0"/>
              <a:t>La etapa productiva permitió identificar la importancia de aplicar los conocimientos técnicos adquiridos para desarrollar soluciones reales que respondan a necesidades de comunidades con acceso limitado a la energía eléctrica. </a:t>
            </a:r>
          </a:p>
          <a:p>
            <a:r>
              <a:rPr lang="es-CO" sz="2000" dirty="0"/>
              <a:t>Se evidenció que la generación de energía autónoma y autosustentable constituye una alternativa viable para mejorar la calidad de vida de las poblaciones que cuentan con escasos recursos energéticos, favoreciendo su desarrollo social y económico. </a:t>
            </a:r>
          </a:p>
          <a:p>
            <a:r>
              <a:rPr lang="es-CO" sz="2000" dirty="0"/>
              <a:t>El proyecto demostró que es posible implementar sistemas energéticos sostenibles que reduzcan la dependencia de fuentes convencionales, promoviendo el uso eficiente de los recursos disponibles y el cuidado del medio ambiente. </a:t>
            </a:r>
          </a:p>
          <a:p>
            <a:r>
              <a:rPr lang="es-CO" sz="2000" dirty="0"/>
              <a:t>La ejecución de la propuesta generó un impacto positivo en la comunidad beneficiada, al brindar una solución que contribuye al acceso a servicios básicos, fortalece las oportunidades de desarrollo y fomenta una mayor inclusión energética. </a:t>
            </a:r>
          </a:p>
          <a:p>
            <a:r>
              <a:rPr lang="es-CO" sz="2000" dirty="0"/>
              <a:t>Finalmente, la experiencia adquirida durante la etapa productiva fortaleció competencias técnicas, de planeación y de trabajo en equipo, permitiendo comprender la relevancia de la innovación tecnológica como herramienta para solucionar problemáticas sociales y comunitarias.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22936B4-C9C3-3A18-FDD6-466514FB836A}"/>
              </a:ext>
            </a:extLst>
          </p:cNvPr>
          <p:cNvSpPr txBox="1"/>
          <p:nvPr/>
        </p:nvSpPr>
        <p:spPr>
          <a:xfrm>
            <a:off x="0" y="33164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>
                <a:solidFill>
                  <a:schemeClr val="bg1"/>
                </a:solidFill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79729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5BEF0B1-4821-4AA8-B16E-D92DA2A53DC9}"/>
              </a:ext>
            </a:extLst>
          </p:cNvPr>
          <p:cNvSpPr/>
          <p:nvPr/>
        </p:nvSpPr>
        <p:spPr>
          <a:xfrm>
            <a:off x="3126768" y="2948683"/>
            <a:ext cx="5938463" cy="1315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C9636F6-0AB6-420F-B71D-81B5778AD027}"/>
              </a:ext>
            </a:extLst>
          </p:cNvPr>
          <p:cNvSpPr txBox="1"/>
          <p:nvPr/>
        </p:nvSpPr>
        <p:spPr>
          <a:xfrm>
            <a:off x="5188450" y="2940337"/>
            <a:ext cx="31952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Y</a:t>
            </a:r>
            <a:r>
              <a:rPr lang="es-CO" sz="8000" dirty="0">
                <a:latin typeface="Arial Rounded MT Bold" panose="020F0704030504030204" pitchFamily="34" charset="0"/>
              </a:rPr>
              <a:t> </a:t>
            </a:r>
            <a:r>
              <a:rPr lang="es-CO" sz="8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YA.</a:t>
            </a:r>
            <a:endParaRPr lang="es-CO" sz="8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289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602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erde amarillo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152</TotalTime>
  <Words>740</Words>
  <Application>Microsoft Office PowerPoint</Application>
  <PresentationFormat>Panorámica</PresentationFormat>
  <Paragraphs>100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Arial Rounded MT Bold</vt:lpstr>
      <vt:lpstr>Calibri</vt:lpstr>
      <vt:lpstr>Calibri Light</vt:lpstr>
      <vt:lpstr>Helvetica Neue</vt:lpstr>
      <vt:lpstr>Tahoma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Administrador</cp:lastModifiedBy>
  <cp:revision>41</cp:revision>
  <dcterms:created xsi:type="dcterms:W3CDTF">2020-10-01T23:51:28Z</dcterms:created>
  <dcterms:modified xsi:type="dcterms:W3CDTF">2026-06-11T15:13:51Z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